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37"/>
    <a:srgbClr val="FF00FF"/>
    <a:srgbClr val="09E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8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3860A-0307-E643-9840-4E88ADF7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3256D7-277F-6E6C-6172-BD59827A5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3C318-D362-9489-EBFE-737AF210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80882C-2BFB-6283-6F0E-579EEFD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D7B2C-21EA-F4E5-9EAC-45510A27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363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0FFA1-5401-43E8-27DC-1EF86693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C8B06-D157-1E75-7984-8E6057998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5258D5-9F83-B8B7-2477-5F75730D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2798B9-86B2-84E1-AAD2-8F4F3D20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61A0B-8BA5-1AB9-5682-6F73FCFE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74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6F534-4785-C6C5-C918-9BD70CC5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6C52A-B5D1-A294-6B7C-089BCF629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19D4C-9D10-8474-265D-594A6070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CAD1F-F88D-035E-37CC-A90F9607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3A0BA6-9832-926D-0330-DA31C8EF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43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89905-9238-7FCE-D1B6-44E86EB0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2756A6-86F8-AEB3-6102-CE05BE3C5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D365F7-9053-A450-DA2B-7D41FE614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62B182-9FF0-614C-A24F-C547D11EE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8A0C21-50FF-2FFB-6A47-4854078E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7E80F8-1D72-DFFF-5806-1A874C7B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38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E8E87-5E98-6901-5F9C-43BE81B8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E441C6-85CF-B55E-D7BE-2F0F0BF7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EBE790-0376-AB7A-AB3B-D07B85109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6B8EE7-20AD-48B1-EF4D-AD7DFB41E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6708B7-D8F5-72C9-C00E-8EE351CAE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C22FAA-4363-137F-DD7D-CE530C21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913D11-8CB7-E8BD-AF65-1867CF866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588676-81FD-5293-CA0B-2852ED14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5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05EAE-2BBA-1741-5F55-EE62EC038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41F6D5-6492-DAFE-1BA3-C32D5851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7FDFDC-9E1D-631D-001A-B2104EB5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723B9C-F9AC-B196-063E-0B67EB50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76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0BBBB4-001B-7A7E-5D03-F694C6F9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ED2908-1B0A-06C1-BE8C-72DC5D10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00BA88-0230-4C8D-6B15-FE6E4971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766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954EB-41E0-72B5-5A32-D1F09EA3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BF667F-64F4-0050-31EE-A12F4AE1F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4D6A63-8AA6-C597-59AE-9BBAFFC9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3D93B0-E216-9A6A-B046-B03AE4A1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E44BBD-6BE7-269A-73DC-C8D94BCF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E24CD7-048D-7FCF-B230-B00AA73B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759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B3CDB-18AA-9FB5-0438-1DC9008F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FFB6F52-C253-07FF-EC5F-BD7C32D9C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EB056A-BDBB-55F0-F761-A5A2E7F08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A05B2D-6EBF-3EE2-935C-B546FC53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0C7086-7C7B-916D-F7DB-A3462270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C6CAD5-1B3C-2EC8-6648-5C51C849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935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CCE21-1BF1-13B1-1E4A-BCE58B16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D3D622-A4EE-E732-5190-8D40BC5FA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8F8E95-393F-E4DF-A2E3-D6410D0E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9BF315-F823-9BCA-6414-9F5F8291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BD69F-5FDB-4FBC-AAA9-E95DE1A2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27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780479-43B2-59AC-4D05-8C1526BFC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29D7DD-314E-7C09-9BB1-1D32AB2E1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734E31-F45A-FD5E-9C7C-A4DD74B1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C7954-FB79-C1A2-0F83-C7F5EF63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E3A091-B58E-A690-21A1-B23A161B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9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6E960D7-02B7-826B-E00E-B1DEC17C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668598-8EF8-A8FF-3306-46235821A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633AF-9AB1-A762-EE4A-3D1162B24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B6179-CCA2-406A-BF56-722613D7F68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A78A9-C71E-F743-93CA-8397AEEA0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5F1FD-8F94-7B63-A71B-ECEBCA081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F7584-7BA9-4D83-B1A6-DA204EBAB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36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0CB72899-6F2A-5FC8-DF5C-CDC8DDE53844}"/>
              </a:ext>
            </a:extLst>
          </p:cNvPr>
          <p:cNvGrpSpPr/>
          <p:nvPr/>
        </p:nvGrpSpPr>
        <p:grpSpPr>
          <a:xfrm>
            <a:off x="0" y="0"/>
            <a:ext cx="13716014" cy="9144019"/>
            <a:chOff x="0" y="0"/>
            <a:chExt cx="13716014" cy="914401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C641060-333B-E0CA-A82E-ED161327B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858014" cy="914401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B9FA66C-6F02-45E1-B7F5-6ABC803C8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58000" y="0"/>
              <a:ext cx="6858014" cy="914401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A50E21-09B5-8757-F9B1-5F9D9A5DCD48}"/>
                </a:ext>
              </a:extLst>
            </p:cNvPr>
            <p:cNvSpPr txBox="1"/>
            <p:nvPr/>
          </p:nvSpPr>
          <p:spPr>
            <a:xfrm>
              <a:off x="180000" y="1310300"/>
              <a:ext cx="10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7261F2-32E1-6261-CD00-EAD2EEE1571B}"/>
                </a:ext>
              </a:extLst>
            </p:cNvPr>
            <p:cNvSpPr txBox="1"/>
            <p:nvPr/>
          </p:nvSpPr>
          <p:spPr>
            <a:xfrm>
              <a:off x="7038000" y="1310299"/>
              <a:ext cx="10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7B232F6-E0ED-0226-250E-332807A3C965}"/>
                    </a:ext>
                  </a:extLst>
                </p:cNvPr>
                <p:cNvSpPr txBox="1"/>
                <p:nvPr/>
              </p:nvSpPr>
              <p:spPr>
                <a:xfrm>
                  <a:off x="11602013" y="5103749"/>
                  <a:ext cx="1982026" cy="5553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√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altLang="ko-KR" sz="2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altLang="ko-KR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ko-KR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3.9 Å</a:t>
                  </a:r>
                  <a:endParaRPr lang="ko-KR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7B232F6-E0ED-0226-250E-332807A3C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2013" y="5103749"/>
                  <a:ext cx="1982026" cy="555345"/>
                </a:xfrm>
                <a:prstGeom prst="rect">
                  <a:avLst/>
                </a:prstGeom>
                <a:blipFill>
                  <a:blip r:embed="rId4"/>
                  <a:stretch>
                    <a:fillRect t="-4396" r="-6462" b="-30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FB302A-5535-72AC-8BF4-F2E25482668E}"/>
                </a:ext>
              </a:extLst>
            </p:cNvPr>
            <p:cNvSpPr txBox="1"/>
            <p:nvPr/>
          </p:nvSpPr>
          <p:spPr>
            <a:xfrm>
              <a:off x="9487398" y="3000609"/>
              <a:ext cx="456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ko-KR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DAAE61-A7A8-3370-3C1E-EB4A1B8FE338}"/>
                </a:ext>
              </a:extLst>
            </p:cNvPr>
            <p:cNvSpPr txBox="1"/>
            <p:nvPr/>
          </p:nvSpPr>
          <p:spPr>
            <a:xfrm>
              <a:off x="9120401" y="4683121"/>
              <a:ext cx="17298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ko-KR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2.25 Å</a:t>
              </a:r>
              <a:endParaRPr lang="ko-KR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4E01AE0-3EDF-21C9-48AD-61230C81E2F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1350" y="3102114"/>
              <a:ext cx="0" cy="5400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D37D848-40BC-5B01-DD44-E63C56215BCF}"/>
                </a:ext>
              </a:extLst>
            </p:cNvPr>
            <p:cNvCxnSpPr>
              <a:cxnSpLocks/>
            </p:cNvCxnSpPr>
            <p:nvPr/>
          </p:nvCxnSpPr>
          <p:spPr>
            <a:xfrm>
              <a:off x="8489950" y="3044963"/>
              <a:ext cx="0" cy="5400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910DF9F-FA09-CCD9-E418-87147088F0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50" y="3314963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0D175F33-3E82-538C-A283-562DBE970648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0" y="3184663"/>
              <a:ext cx="0" cy="5400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AFDD00C2-A9F7-8639-0080-FA451531F4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4646" y="3334014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A56F15BB-54D0-B04C-0B15-A7014795E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01350" y="3333600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EDF4E08B-BE3E-AAA9-4B4D-F225B5FE76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08598" y="3351600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510878E-4D53-3544-A2FA-B2D639219E1C}"/>
                </a:ext>
              </a:extLst>
            </p:cNvPr>
            <p:cNvSpPr/>
            <p:nvPr/>
          </p:nvSpPr>
          <p:spPr>
            <a:xfrm>
              <a:off x="5572021" y="7135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6D6E1A84-07F3-D5DF-AF45-A2946B96B56F}"/>
                </a:ext>
              </a:extLst>
            </p:cNvPr>
            <p:cNvSpPr/>
            <p:nvPr/>
          </p:nvSpPr>
          <p:spPr>
            <a:xfrm>
              <a:off x="5453221" y="7146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0044E14-28EC-C101-464B-CA857F0588DB}"/>
                    </a:ext>
                  </a:extLst>
                </p:cNvPr>
                <p:cNvSpPr txBox="1"/>
                <p:nvPr/>
              </p:nvSpPr>
              <p:spPr>
                <a:xfrm>
                  <a:off x="3713500" y="3112268"/>
                  <a:ext cx="51525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0044E14-28EC-C101-464B-CA857F058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3500" y="3112268"/>
                  <a:ext cx="515256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7860BD1-78FC-AD8E-5954-9B01B128DD32}"/>
                    </a:ext>
                  </a:extLst>
                </p:cNvPr>
                <p:cNvSpPr txBox="1"/>
                <p:nvPr/>
              </p:nvSpPr>
              <p:spPr>
                <a:xfrm>
                  <a:off x="6189637" y="5602541"/>
                  <a:ext cx="51525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7860BD1-78FC-AD8E-5954-9B01B128D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9637" y="5602541"/>
                  <a:ext cx="515256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A8D3AFF-3CFF-3C88-6E7E-5108E7AD9B9C}"/>
                    </a:ext>
                  </a:extLst>
                </p:cNvPr>
                <p:cNvSpPr txBox="1"/>
                <p:nvPr/>
              </p:nvSpPr>
              <p:spPr>
                <a:xfrm>
                  <a:off x="4228756" y="4707888"/>
                  <a:ext cx="51525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A8D3AFF-3CFF-3C88-6E7E-5108E7AD9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756" y="4707888"/>
                  <a:ext cx="51525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5DBF5A0-E291-5981-4987-650F83EB9908}"/>
                    </a:ext>
                  </a:extLst>
                </p:cNvPr>
                <p:cNvSpPr txBox="1"/>
                <p:nvPr/>
              </p:nvSpPr>
              <p:spPr>
                <a:xfrm>
                  <a:off x="2837615" y="5368209"/>
                  <a:ext cx="36000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5DBF5A0-E291-5981-4987-650F83EB9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7615" y="5368209"/>
                  <a:ext cx="360000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6AEC7435-6F08-E6AA-C678-49D41D69243E}"/>
                </a:ext>
              </a:extLst>
            </p:cNvPr>
            <p:cNvSpPr/>
            <p:nvPr/>
          </p:nvSpPr>
          <p:spPr>
            <a:xfrm>
              <a:off x="2412692" y="7777666"/>
              <a:ext cx="679064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Centroid of the bonded heavy-atom neighbors</a:t>
              </a:r>
              <a:endParaRPr lang="ko-KR" altLang="en-US" sz="2800" dirty="0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D7B720D0-9B4B-97DC-5676-5775ADB790D5}"/>
                </a:ext>
              </a:extLst>
            </p:cNvPr>
            <p:cNvSpPr/>
            <p:nvPr/>
          </p:nvSpPr>
          <p:spPr>
            <a:xfrm>
              <a:off x="1903678" y="7837900"/>
              <a:ext cx="432000" cy="43200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099D831B-FEE7-03CA-B3D6-48B8BB621C8B}"/>
                </a:ext>
              </a:extLst>
            </p:cNvPr>
            <p:cNvSpPr/>
            <p:nvPr/>
          </p:nvSpPr>
          <p:spPr>
            <a:xfrm>
              <a:off x="1907541" y="8490959"/>
              <a:ext cx="432000" cy="43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77C24DD9-F0C8-268B-FB36-8E484D65FD59}"/>
                </a:ext>
              </a:extLst>
            </p:cNvPr>
            <p:cNvSpPr/>
            <p:nvPr/>
          </p:nvSpPr>
          <p:spPr>
            <a:xfrm>
              <a:off x="2412692" y="8436697"/>
              <a:ext cx="26035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Residue centroid</a:t>
              </a:r>
              <a:endParaRPr lang="ko-KR" altLang="en-US" sz="28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7CB08E7E-6986-863E-3147-C718A6A3C08F}"/>
                    </a:ext>
                  </a:extLst>
                </p:cNvPr>
                <p:cNvSpPr txBox="1"/>
                <p:nvPr/>
              </p:nvSpPr>
              <p:spPr>
                <a:xfrm>
                  <a:off x="12808623" y="2141830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7CB08E7E-6986-863E-3147-C718A6A3C0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8623" y="2141830"/>
                  <a:ext cx="651865" cy="771045"/>
                </a:xfrm>
                <a:prstGeom prst="rect">
                  <a:avLst/>
                </a:prstGeom>
                <a:blipFill>
                  <a:blip r:embed="rId9"/>
                  <a:stretch>
                    <a:fillRect r="-2803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DA919AB-8CAC-9EC8-0D73-52E68713EC82}"/>
                    </a:ext>
                  </a:extLst>
                </p:cNvPr>
                <p:cNvSpPr txBox="1"/>
                <p:nvPr/>
              </p:nvSpPr>
              <p:spPr>
                <a:xfrm>
                  <a:off x="8294986" y="1952870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DA919AB-8CAC-9EC8-0D73-52E68713E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4986" y="1952870"/>
                  <a:ext cx="651865" cy="771045"/>
                </a:xfrm>
                <a:prstGeom prst="rect">
                  <a:avLst/>
                </a:prstGeom>
                <a:blipFill>
                  <a:blip r:embed="rId10"/>
                  <a:stretch>
                    <a:fillRect r="-2710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4F592B9B-DCC6-6CBE-47B2-8447F08D48B8}"/>
                    </a:ext>
                  </a:extLst>
                </p:cNvPr>
                <p:cNvSpPr txBox="1"/>
                <p:nvPr/>
              </p:nvSpPr>
              <p:spPr>
                <a:xfrm>
                  <a:off x="7085616" y="3771299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4F592B9B-DCC6-6CBE-47B2-8447F08D4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5616" y="3771299"/>
                  <a:ext cx="651865" cy="771045"/>
                </a:xfrm>
                <a:prstGeom prst="rect">
                  <a:avLst/>
                </a:prstGeom>
                <a:blipFill>
                  <a:blip r:embed="rId11"/>
                  <a:stretch>
                    <a:fillRect r="-2803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129ECB92-840B-403F-0180-71F045BDC19A}"/>
                    </a:ext>
                  </a:extLst>
                </p:cNvPr>
                <p:cNvSpPr txBox="1"/>
                <p:nvPr/>
              </p:nvSpPr>
              <p:spPr>
                <a:xfrm>
                  <a:off x="12784315" y="4301419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129ECB92-840B-403F-0180-71F045BD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84315" y="4301419"/>
                  <a:ext cx="651865" cy="771045"/>
                </a:xfrm>
                <a:prstGeom prst="rect">
                  <a:avLst/>
                </a:prstGeom>
                <a:blipFill>
                  <a:blip r:embed="rId12"/>
                  <a:stretch>
                    <a:fillRect r="-2803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012A904-11C1-4AFF-FC44-BC7DDC9841B6}"/>
                </a:ext>
              </a:extLst>
            </p:cNvPr>
            <p:cNvSpPr txBox="1"/>
            <p:nvPr/>
          </p:nvSpPr>
          <p:spPr>
            <a:xfrm>
              <a:off x="11825025" y="3028425"/>
              <a:ext cx="456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ko-KR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E01C4EE-EA64-2339-908F-944CBBE1D43E}"/>
                </a:ext>
              </a:extLst>
            </p:cNvPr>
            <p:cNvSpPr txBox="1"/>
            <p:nvPr/>
          </p:nvSpPr>
          <p:spPr>
            <a:xfrm>
              <a:off x="10182883" y="2521743"/>
              <a:ext cx="21688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ko-KR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4.5 Å</a:t>
              </a:r>
              <a:endParaRPr lang="ko-KR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DC5DE0F-4B55-A1E8-0DE7-5BF85A1886B2}"/>
                </a:ext>
              </a:extLst>
            </p:cNvPr>
            <p:cNvSpPr/>
            <p:nvPr/>
          </p:nvSpPr>
          <p:spPr>
            <a:xfrm>
              <a:off x="9944100" y="7831928"/>
              <a:ext cx="432000" cy="432000"/>
            </a:xfrm>
            <a:prstGeom prst="ellipse">
              <a:avLst/>
            </a:prstGeom>
            <a:solidFill>
              <a:srgbClr val="007A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A9622D-0294-D778-164C-F1D9CEF3439E}"/>
                </a:ext>
              </a:extLst>
            </p:cNvPr>
            <p:cNvSpPr/>
            <p:nvPr/>
          </p:nvSpPr>
          <p:spPr>
            <a:xfrm>
              <a:off x="10449251" y="7777666"/>
              <a:ext cx="18101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Probe node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40817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39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Cambria Math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SANGWOO PARK</dc:creator>
  <cp:lastModifiedBy>SANGWOO PARK</cp:lastModifiedBy>
  <cp:revision>22</cp:revision>
  <dcterms:created xsi:type="dcterms:W3CDTF">2026-09-02T15:14:15Z</dcterms:created>
  <dcterms:modified xsi:type="dcterms:W3CDTF">2026-09-02T16:49:11Z</dcterms:modified>
</cp:coreProperties>
</file>